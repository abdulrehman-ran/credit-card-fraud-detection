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097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AEAEA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AEAEA"/>
                </a:solidFill>
                <a:latin typeface="Calibri"/>
              </a:defRPr>
            </a:pPr>
            <a:r>
              <a:t>Credit Card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29BFE"/>
                </a:solidFill>
                <a:latin typeface="Calibri"/>
              </a:defRPr>
            </a:pPr>
            <a:r>
              <a:t>Using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023360"/>
            <a:ext cx="32004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2B0"/>
                </a:solidFill>
                <a:latin typeface="Calibri"/>
              </a:defRPr>
            </a:pPr>
            <a:r>
              <a:t>Data Science Semester Project — 4th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B0"/>
                </a:solidFill>
                <a:latin typeface="Calibri"/>
              </a:defRPr>
            </a:pPr>
            <a:r>
              <a:t>Python  •  Scikit-learn  •  XGBoost  •  SMOTE  •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29BFE"/>
                </a:solidFill>
                <a:latin typeface="Calibri"/>
              </a:defRPr>
            </a:pPr>
            <a:r>
              <a:t>📋 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13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1.  Introduction &amp;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938528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893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2.  Dataset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14016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6481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3.  Project Architecture &amp; Tech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89504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403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4.  Data Preprocessing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364992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15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5.  Exploratory Data Analysis (EDA)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40480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891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6.  Machine Learning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15968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3667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7.  Model Evaluation &amp;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91456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4225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8.  Results &amp; Best Model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266944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3177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9.  Streamlit Web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42432"/>
            <a:ext cx="9601200" cy="42062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9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10.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1. 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C6A"/>
                </a:solidFill>
                <a:latin typeface="Calibri"/>
              </a:defRPr>
            </a:pPr>
            <a:r>
              <a:t>⚠️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Credit card fraud costs $28+ billion annually worldwide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Traditional rule-based systems can't adapt to new fraud patterns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Manual review is slow and expensive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Fraudulent transactions are extremely rare (&lt; 0.2%)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Both false positives and false negatives are costly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✅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Machine Learning for automated fraud detection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SMOTE to handle extreme class imbalance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Compare 4 ML algorithms to find the best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Evaluate using F1 Score (not accuracy!)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Deploy via interactive Streamlit dashboard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Real-time prediction with confidence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2.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  <a:latin typeface="Calibri"/>
              </a:defRPr>
            </a:pPr>
            <a:r>
              <a:t>Kaggle Credit Card Fraud Detection Dataset — European cardholders, September 2013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AEAEA"/>
                </a:solidFill>
                <a:latin typeface="Calibri"/>
              </a:defRPr>
            </a:pPr>
            <a:r>
              <a:t>284,807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Total</a:t>
            </a:r>
            <a:br/>
            <a:r>
              <a:t>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20240"/>
            <a:ext cx="20116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C6A"/>
                </a:solidFill>
                <a:latin typeface="Calibri"/>
              </a:defRPr>
            </a:pPr>
            <a:r>
              <a:t>492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Fraudulent</a:t>
            </a:r>
            <a:br/>
            <a:r>
              <a:t>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920240"/>
            <a:ext cx="20116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DCB6E"/>
                </a:solidFill>
                <a:latin typeface="Calibri"/>
              </a:defRPr>
            </a:pPr>
            <a:r>
              <a:t>0.172%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Fraud</a:t>
            </a:r>
            <a:br/>
            <a:r>
              <a:t>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920240"/>
            <a:ext cx="20116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AA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Total</a:t>
            </a:r>
            <a:br/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920240"/>
            <a:ext cx="20116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11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29BFE"/>
                </a:solidFill>
                <a:latin typeface="Calibri"/>
              </a:defRPr>
            </a:pPr>
            <a:r>
              <a:t>2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  <a:latin typeface="Calibri"/>
              </a:defRPr>
            </a:pPr>
            <a:r>
              <a:t>Time</a:t>
            </a:r>
            <a:br/>
            <a:r>
              <a:t>Period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Calibri"/>
              </a:defRPr>
            </a:pPr>
            <a:r>
              <a:t>📊 Feature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V1 – V28:  PCA-transformed anonymized features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Time:         Seconds since first transaction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Amount:     Transaction amount (in Euros)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Class:        Target → 0 (Legitimate) / 1 (Fraud)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Original features hidden for confidentiality (PCA applied)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Only Time &amp; Amount retain original meaning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V1–V28 are already scaled (no extra scaling needed)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Extreme imbalance: 99.83% legitimate vs 0.17% fraud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3. Project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0292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Raw Data</a:t>
            </a:r>
            <a:br/>
            <a:r>
              <a:t>(CSV)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Calibri"/>
              </a:defRPr>
            </a:pPr>
            <a:r>
              <a:t>Preprocessing</a:t>
            </a:r>
            <a:br/>
            <a:r>
              <a:t>&amp;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DCB6E"/>
                </a:solidFill>
                <a:latin typeface="Calibri"/>
              </a:defRPr>
            </a:pPr>
            <a:r>
              <a:t>EDA</a:t>
            </a:r>
            <a:br/>
            <a:r>
              <a:t>(5 Plots)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29BFE"/>
                </a:solidFill>
                <a:latin typeface="Calibri"/>
              </a:defRPr>
            </a:pPr>
            <a:r>
              <a:t>Train</a:t>
            </a:r>
            <a:br/>
            <a:r>
              <a:t>4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C6A"/>
                </a:solidFill>
                <a:latin typeface="Calibri"/>
              </a:defRPr>
            </a:pPr>
            <a:r>
              <a:t>Evaluate</a:t>
            </a:r>
            <a:br/>
            <a:r>
              <a:t>&amp; 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0" y="1463040"/>
            <a:ext cx="96012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15087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AEAE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192024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Calibri"/>
              </a:defRPr>
            </a:pPr>
            <a:r>
              <a:t>Best Model</a:t>
            </a:r>
            <a:br/>
            <a:r>
              <a:t>(Pickle)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10896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🐍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Python 3.9+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310896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Calibri"/>
              </a:defRPr>
            </a:pPr>
            <a:r>
              <a:t>📊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Pandas, NumPy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10896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CB6E"/>
                </a:solidFill>
                <a:latin typeface="Calibri"/>
              </a:defRPr>
            </a:pPr>
            <a:r>
              <a:t>🤖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Scikit-learn, XGBoost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66344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C6A"/>
                </a:solidFill>
                <a:latin typeface="Calibri"/>
              </a:defRPr>
            </a:pPr>
            <a:r>
              <a:t>⚖️ Balancing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Imbalanced-learn</a:t>
            </a:r>
            <a:br/>
            <a:r>
              <a:t>(SMOTE)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466344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39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Calibri"/>
              </a:defRPr>
            </a:pPr>
            <a:r>
              <a:t>📈 Visualization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Matplotlib, Seaborn</a:t>
            </a:r>
            <a:br/>
            <a:r>
              <a:t>Plotly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66344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🌐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4. Data Preprocessing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📥  Step 1: Load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Read creditcard.csv using Pandas with error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Calibri"/>
              </a:defRPr>
            </a:pPr>
            <a:r>
              <a:t>🔍  Step 2: Inspect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Check shape, dtypes, null counts, duplicates, class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CB6E"/>
                </a:solidFill>
                <a:latin typeface="Calibri"/>
              </a:defRPr>
            </a:pPr>
            <a:r>
              <a:t>🧹  Step 3: 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Remove ~1,081 duplicate rows; handle missing values with median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C6A"/>
                </a:solidFill>
                <a:latin typeface="Calibri"/>
              </a:defRPr>
            </a:pPr>
            <a:r>
              <a:t>📏  Step 4: Scale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StandardScaler on Time &amp; Amount (V1–V28 already PCA-scaled)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Calibri"/>
              </a:defRPr>
            </a:pPr>
            <a:r>
              <a:t>✂️  Step 5: Train/Test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80/20 stratified split — maintains class proportions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⚖️  Step 6: Apply SMOTE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Oversample minority class on TRAINING data only (prevents leakage!)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2D1414"/>
          </a:solidFill>
          <a:ln w="19050">
            <a:solidFill>
              <a:srgbClr val="FF4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C6A"/>
                </a:solidFill>
                <a:latin typeface="Calibri"/>
              </a:defRPr>
            </a:pPr>
            <a:r>
              <a:t>⚠️  CRITICAL: SMOTE is applied to training data ONLY — applying it before splitting causes data leakage!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4b. SMOTE — Handling Class Imbalance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0292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What is SMOTE?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Synthetic Minority Over-sampling Technique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Creates SYNTHETIC fraud examples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Interpolates between existing minority samples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Balances the dataset to ~50/50 split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Why not just duplicate fraud cases?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Duplication causes overfitting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SMOTE creates NEW realistic data points</a:t>
            </a:r>
          </a:p>
          <a:p>
            <a:pPr>
              <a:spcAft>
                <a:spcPts val="800"/>
              </a:spcAft>
              <a:defRPr sz="1500">
                <a:solidFill>
                  <a:srgbClr val="CCD6F6"/>
                </a:solidFill>
                <a:latin typeface="Calibri"/>
              </a:defRPr>
            </a:pPr>
            <a:r>
              <a:t>• Better generalization on unseen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C6A"/>
                </a:solidFill>
                <a:latin typeface="Calibri"/>
              </a:defRPr>
            </a:pPr>
            <a:r>
              <a:t>❌ Before SMOTE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6F6"/>
                </a:solidFill>
                <a:latin typeface="Calibri"/>
              </a:defRPr>
            </a:pPr>
            <a:r>
              <a:t>Legitimate: ~227,451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4C6A"/>
                </a:solidFill>
                <a:latin typeface="Calibri"/>
              </a:defRPr>
            </a:pPr>
            <a:r>
              <a:t>Fraudulent:      ~394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  <a:latin typeface="Calibri"/>
              </a:defRPr>
            </a:pPr>
            <a:r>
              <a:t>Ratio: 99.83% vs 0.17%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✅ After 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6F6"/>
                </a:solidFill>
                <a:latin typeface="Calibri"/>
              </a:defRPr>
            </a:pPr>
            <a:r>
              <a:t>Legitimate: ~227,451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Fraudulent: ~227,451 samples (synthetic!)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alibri"/>
              </a:defRPr>
            </a:pPr>
            <a:r>
              <a:t>Ratio: 50% vs 50%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52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DCB6E"/>
                </a:solidFill>
                <a:latin typeface="Calibri"/>
              </a:defRPr>
            </a:pPr>
            <a:r>
              <a:t>Applied to training data only!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5. Exploratory Data Analysis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📊 Class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Bar chart + pie chart showing 99.83% vs 0.17%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CB6E"/>
                </a:solidFill>
                <a:latin typeface="Calibri"/>
              </a:defRPr>
            </a:pPr>
            <a:r>
              <a:t>💰 Amount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Fraud amounts tend to be smaller (mean ~$122 vs ~$88)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Calibri"/>
              </a:defRPr>
            </a:pPr>
            <a:r>
              <a:t>⏰ Time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Transaction frequency over the 48-hour recording period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C6A"/>
                </a:solidFill>
                <a:latin typeface="Calibri"/>
              </a:defRPr>
            </a:pPr>
            <a:r>
              <a:t>🔗 Correlation 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Feature correlations — V14, V12, V10 most correlated with fraud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Calibri"/>
              </a:defRPr>
            </a:pPr>
            <a:r>
              <a:t>📈 Top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t>Box plots of top 8 features showing class separation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42D1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💡 Key Insight: Most fraud transactions are under $100, making them hard to detect by amount alone!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5b. EDA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B0"/>
                </a:solidFill>
                <a:latin typeface="Calibri"/>
              </a:defRPr>
            </a:pPr>
            <a:r>
              <a:t>Class Distribution</a:t>
            </a:r>
          </a:p>
        </p:txBody>
      </p:sp>
      <p:pic>
        <p:nvPicPr>
          <p:cNvPr id="6" name="Picture 5" descr="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B0"/>
                </a:solidFill>
                <a:latin typeface="Calibri"/>
              </a:defRPr>
            </a:pPr>
            <a:r>
              <a:t>Amount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6.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Calibri"/>
              </a:defRPr>
            </a:pPr>
            <a:r>
              <a:t>1️⃣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Linear classifier — fast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Simple, interpretable</a:t>
            </a:r>
            <a:br/>
            <a:r>
              <a:t>• Good for linearly separable data</a:t>
            </a:r>
            <a:br/>
            <a:r>
              <a:t>• Outputs probabilities</a:t>
            </a:r>
            <a:br/>
            <a:r>
              <a:t>• max_iter=1000, solver='lbfgs'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2️⃣ 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Tree-based — rule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Easy to interpret (if-else rules)</a:t>
            </a:r>
            <a:br/>
            <a:r>
              <a:t>• Handles non-linear patterns</a:t>
            </a:r>
            <a:br/>
            <a:r>
              <a:t>• Prone to overfitting</a:t>
            </a:r>
            <a:br/>
            <a:r>
              <a:t>• max_depth=10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CB6E"/>
                </a:solidFill>
                <a:latin typeface="Calibri"/>
              </a:defRPr>
            </a:pPr>
            <a:r>
              <a:t>3️⃣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Ensemble of 100 decision 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Combines many trees (bagging)</a:t>
            </a:r>
            <a:br/>
            <a:r>
              <a:t>• Reduces overfitting</a:t>
            </a:r>
            <a:br/>
            <a:r>
              <a:t>• Robust and accurate</a:t>
            </a:r>
            <a:br/>
            <a:r>
              <a:t>• n_estimators=100, max_depth=15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77639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C6A"/>
                </a:solidFill>
                <a:latin typeface="Calibri"/>
              </a:defRPr>
            </a:pPr>
            <a:r>
              <a:t>4️⃣ 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B0"/>
                </a:solidFill>
                <a:latin typeface="Calibri"/>
              </a:defRPr>
            </a:pPr>
            <a:r>
              <a:t>Gradient boosted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Trees learn from previous errors</a:t>
            </a:r>
            <a:br/>
            <a:r>
              <a:t>• State-of-the-art performance</a:t>
            </a:r>
            <a:br/>
            <a:r>
              <a:t>• Handles imbalance well</a:t>
            </a:r>
            <a:br/>
            <a:r>
              <a:t>• n_estimators=100, lr=0.1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7. Evaluation Metrics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2D1414"/>
          </a:solidFill>
          <a:ln w="19050">
            <a:solidFill>
              <a:srgbClr val="FF4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C6A"/>
                </a:solidFill>
                <a:latin typeface="Calibri"/>
              </a:defRPr>
            </a:pPr>
            <a:r>
              <a:t>⚠️ Why NOT Accuracy?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6F6"/>
                </a:solidFill>
                <a:latin typeface="Calibri"/>
              </a:defRPr>
            </a:pPr>
            <a:r>
              <a:t>A model predicting ALL transactions as legitimate achieves 99.83% accuracy — but catches ZERO fraud!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892B0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Overall correct predictions</a:t>
            </a:r>
            <a:br/>
            <a:r>
              <a:t>TP + TN /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Good for balanced datasets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74320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816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29BFE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Of predicted frauds, how many</a:t>
            </a:r>
            <a:br/>
            <a:r>
              <a:t>are actual frauds?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Minimizes false alarms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816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Of actual frauds, how many</a:t>
            </a:r>
            <a:br/>
            <a:r>
              <a:t>were detected?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Catches the most frauds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DCB6E"/>
                </a:solidFill>
                <a:latin typeface="Calibri"/>
              </a:defRPr>
            </a:pPr>
            <a:r>
              <a:t>F1 Score 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Harmonic mean of Precision</a:t>
            </a:r>
            <a:br/>
            <a:r>
              <a:t>and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PRIMARY METRIC — balances both!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66344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29BFE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Model's ability to distinguish</a:t>
            </a:r>
            <a:br/>
            <a:r>
              <a:t>between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Ranking &amp; threshold metric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663440"/>
            <a:ext cx="3474720" cy="1691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C6A"/>
                </a:solidFill>
                <a:latin typeface="Calibri"/>
              </a:defRPr>
            </a:pPr>
            <a:r>
              <a:t>Confusion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Table of TP, TN, FP, FN</a:t>
            </a:r>
            <a:br/>
            <a:r>
              <a:t>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→ Visual error breakdown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8. Results &amp;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3492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2320" y="1397000"/>
            <a:ext cx="245872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143764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2640" y="139700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143764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5680" y="139700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143764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720" y="139700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71600"/>
            <a:ext cx="143764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1760" y="139700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1437640" cy="477520"/>
          </a:xfrm>
          <a:prstGeom prst="round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4800" y="139700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EAEA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874520"/>
            <a:ext cx="253492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320" y="1899920"/>
            <a:ext cx="245872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87452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2640" y="189992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7452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5680" y="189992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7452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8720" y="189992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87452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1760" y="189992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87452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800" y="189992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77440"/>
            <a:ext cx="253492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320" y="2402840"/>
            <a:ext cx="245872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237744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2640" y="240284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~0.997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37744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5680" y="240284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~0.72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37744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8720" y="240284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~0.76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237744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31760" y="240284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~0.74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237744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800" y="240284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~0.88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880360"/>
            <a:ext cx="253492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320" y="2905760"/>
            <a:ext cx="245872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288036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2640" y="290576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D6F6"/>
                </a:solidFill>
                <a:latin typeface="Calibri"/>
              </a:defRPr>
            </a:pPr>
            <a:r>
              <a:t>~0.999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288036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5680" y="290576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D6F6"/>
                </a:solidFill>
                <a:latin typeface="Calibri"/>
              </a:defRPr>
            </a:pPr>
            <a:r>
              <a:t>~0.93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288036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8720" y="290576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D6F6"/>
                </a:solidFill>
                <a:latin typeface="Calibri"/>
              </a:defRPr>
            </a:pPr>
            <a:r>
              <a:t>~0.80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288036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1760" y="290576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Calibri"/>
              </a:defRPr>
            </a:pPr>
            <a:r>
              <a:t>~0.86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2880360"/>
            <a:ext cx="1437640" cy="477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94800" y="290576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D6F6"/>
                </a:solidFill>
                <a:latin typeface="Calibri"/>
              </a:defRPr>
            </a:pPr>
            <a:r>
              <a:t>~0.96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383280"/>
            <a:ext cx="253492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2320" y="3408680"/>
            <a:ext cx="245872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0" y="338328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2640" y="340868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~0.999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4880" y="338328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5680" y="340868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~0.88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338328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8720" y="340868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~0.82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0" y="338328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31760" y="340868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~0.85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4000" y="3383280"/>
            <a:ext cx="1437640" cy="477520"/>
          </a:xfrm>
          <a:prstGeom prst="roundRect">
            <a:avLst/>
          </a:prstGeom>
          <a:solidFill>
            <a:srgbClr val="1A2748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94800" y="3408680"/>
            <a:ext cx="1361440" cy="4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~0.97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142D1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🏆 Best Model: Random Forest / XGBoost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6F6"/>
                </a:solidFill>
                <a:latin typeface="Calibri"/>
              </a:defRPr>
            </a:pPr>
            <a:r>
              <a:t>Selected based on highest F1 Score — the best metric for imbalanced classification problems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486400"/>
            <a:ext cx="1069848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Calibri"/>
              </a:defRPr>
            </a:pPr>
            <a:r>
              <a:t>📊 Key Observations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5897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LR: High recall but very low precision (too many false alarms)  •  Ensemble methods (RF, XGB) far outperform single models  •  Accuracy alone is misleading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9. Streamlit Web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🏠 Home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Project overview with summary metric cards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Dataset statistics (284K transactions, 0.172% fraud)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Best model highlight card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All 5 EDA visualizations in interactive tabs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Key insights from the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Calibri"/>
              </a:defRPr>
            </a:pPr>
            <a:r>
              <a:t>🔍 Prediction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Input form for all 30 features (V1–V28, Time, Amount)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Quick-fill buttons for demo (legitimate &amp; fraud samples)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Real-time fraud prediction with confidence percentage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Animated result cards (green = safe, red = fraud)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Gauge chart for fraud probability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CB6E"/>
                </a:solidFill>
                <a:latin typeface="Calibri"/>
              </a:defRPr>
            </a:pPr>
            <a:r>
              <a:t>📊 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7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Side-by-side comparison table of all 4 models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Interactive radar chart for best model metrics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Grouped bar chart comparison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Confusion matrices and ROC curves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77639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C6A"/>
                </a:solidFill>
                <a:latin typeface="Calibri"/>
              </a:defRPr>
            </a:pPr>
            <a:r>
              <a:t>ℹ️ About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7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Tech stack information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ML pipeline explanation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Dataset documentation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  <a:latin typeface="Calibri"/>
              </a:defRPr>
            </a:pPr>
            <a:r>
              <a:t>• Project credits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29BFE"/>
                </a:solidFill>
                <a:latin typeface="Calibri"/>
              </a:defRPr>
            </a:pPr>
            <a:r>
              <a:t>10.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✅ 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Complete ML pipeline for fraud detection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Handled extreme class imbalance (0.172%)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    using SMOTE oversampling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Trained &amp; compared 4 ML algorithms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Achieved F1 Score &gt; 0.85 with ensemble models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Deployed production-style Streamlit dashboard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Real-time prediction with confidence scores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Modular, well-documented, reusable code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University-ready documentation &amp;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DCB6E"/>
                </a:solidFill>
                <a:latin typeface="Calibri"/>
              </a:defRPr>
            </a:pPr>
            <a:r>
              <a:t>🚀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Deep Learning: LSTM / Autoencoders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    for sequential pattern detection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Real-time streaming: Apache Kafka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    integration for live processing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SHAP values for model explainability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    (transparent, trustworthy predictions)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Hyperparameter tuning with Optuna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REST API with FastAPI for production</a:t>
            </a:r>
          </a:p>
          <a:p>
            <a:pPr>
              <a:spcAft>
                <a:spcPts val="800"/>
              </a:spcAft>
              <a:defRPr sz="1400">
                <a:solidFill>
                  <a:srgbClr val="CCD6F6"/>
                </a:solidFill>
                <a:latin typeface="Calibri"/>
              </a:defRPr>
            </a:pPr>
            <a:r>
              <a:t>• Concept drift monitoring &amp; auto-retrain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AEAEA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017520"/>
            <a:ext cx="32004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29BFE"/>
                </a:solidFill>
                <a:latin typeface="Calibri"/>
              </a:defRPr>
            </a:pPr>
            <a:r>
              <a:t>Credit Card Fraud Detection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2B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